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875520" y="502920"/>
            <a:ext cx="1280160" cy="128016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789920" y="1234440"/>
            <a:ext cx="594360" cy="594360"/>
          </a:xfrm>
          <a:prstGeom prst="ellipse">
            <a:avLst/>
          </a:prstGeom>
          <a:solidFill>
            <a:srgbClr val="EF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172700" y="4937760"/>
            <a:ext cx="1828800" cy="1828800"/>
          </a:xfrm>
          <a:prstGeom prst="ellipse">
            <a:avLst/>
          </a:prstGeom>
          <a:solidFill>
            <a:srgbClr val="4B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097280"/>
            <a:ext cx="713232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tos"/>
              </a:rPr>
              <a:t>FoodGPT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901952"/>
            <a:ext cx="7955279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DAE2EB"/>
                </a:solidFill>
                <a:latin typeface="Aptos"/>
              </a:rPr>
              <a:t>A grounded nutrition assistant for Bangladeshi and international cuisine.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651760"/>
            <a:ext cx="1828800" cy="310896"/>
          </a:xfrm>
          <a:prstGeom prst="roundRect">
            <a:avLst/>
          </a:prstGeom>
          <a:solidFill>
            <a:srgbClr val="1D3B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660904"/>
            <a:ext cx="182880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9FE6DD"/>
                </a:solidFill>
                <a:latin typeface="Aptos"/>
              </a:rPr>
              <a:t>WHAT FOODGPT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063240"/>
            <a:ext cx="7497758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FFFFFF"/>
                </a:solidFill>
                <a:latin typeface="Aptos"/>
              </a:rPr>
              <a:t>Uses one cleaned food dataset to power nutrition analysis, health recommendations,</a:t>
            </a:r>
            <a:endParaRPr lang="en-US" sz="1600" b="0" i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FFFFFF"/>
                </a:solidFill>
                <a:latin typeface="Aptos"/>
              </a:rPr>
              <a:t>recipes, meal planning, menu analysis, diet/allergen filtering, food comparison, </a:t>
            </a:r>
            <a:endParaRPr lang="en-US" sz="1600" b="0" i="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600" b="0" i="0" dirty="0">
                <a:solidFill>
                  <a:srgbClr val="FFFFFF"/>
                </a:solidFill>
                <a:latin typeface="Aptos"/>
              </a:rPr>
              <a:t>and grounded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331720"/>
            <a:ext cx="2423160" cy="2971800"/>
          </a:xfrm>
          <a:prstGeom prst="roundRect">
            <a:avLst/>
          </a:prstGeom>
          <a:solidFill>
            <a:srgbClr val="182A3E"/>
          </a:solidFill>
          <a:ln w="10160">
            <a:solidFill>
              <a:srgbClr val="3147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98280" y="2578608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49B91"/>
                </a:solidFill>
                <a:latin typeface="Aptos"/>
              </a:rPr>
              <a:t>1,255 dishes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072384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EF974A"/>
                </a:solidFill>
                <a:latin typeface="Aptos"/>
              </a:rPr>
              <a:t>8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5661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4B7BBE"/>
                </a:solidFill>
                <a:latin typeface="Aptos"/>
              </a:rPr>
              <a:t>1 cleaned 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4059935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AAD778"/>
                </a:solidFill>
                <a:latin typeface="Aptos"/>
              </a:rPr>
              <a:t>Rules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4553712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CEAAE1"/>
                </a:solidFill>
                <a:latin typeface="Aptos"/>
              </a:rPr>
              <a:t>Groq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62158"/>
            <a:ext cx="124072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00" b="0" i="0" dirty="0">
                <a:solidFill>
                  <a:srgbClr val="A4B1BF"/>
                </a:solidFill>
                <a:latin typeface="Aptos"/>
              </a:rPr>
              <a:t>Project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328838"/>
            <a:ext cx="2423159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 dirty="0">
                <a:solidFill>
                  <a:srgbClr val="A4B1BF"/>
                </a:solidFill>
                <a:latin typeface="Aptos"/>
              </a:rPr>
              <a:t>Group No.: </a:t>
            </a:r>
            <a:r>
              <a:rPr lang="en-US" sz="1000" dirty="0">
                <a:solidFill>
                  <a:srgbClr val="A4B1BF"/>
                </a:solidFill>
                <a:latin typeface="Aptos"/>
              </a:rPr>
              <a:t>04</a:t>
            </a:r>
            <a:r>
              <a:rPr sz="1000" b="0" i="0" dirty="0">
                <a:solidFill>
                  <a:srgbClr val="A4B1BF"/>
                </a:solidFill>
                <a:latin typeface="Aptos"/>
              </a:rPr>
              <a:t>  </a:t>
            </a:r>
            <a:endParaRPr lang="en-US" sz="1000" b="0" i="0" dirty="0">
              <a:solidFill>
                <a:srgbClr val="A4B1BF"/>
              </a:solidFill>
              <a:latin typeface="Aptos"/>
            </a:endParaRPr>
          </a:p>
          <a:p>
            <a:pPr algn="l"/>
            <a:r>
              <a:rPr sz="1000" b="0" i="0" dirty="0">
                <a:solidFill>
                  <a:srgbClr val="A4B1BF"/>
                </a:solidFill>
                <a:latin typeface="Aptos"/>
              </a:rPr>
              <a:t>Members</a:t>
            </a:r>
            <a:r>
              <a:rPr lang="en-US" sz="1000" b="0" i="0" dirty="0">
                <a:solidFill>
                  <a:srgbClr val="A4B1BF"/>
                </a:solidFill>
                <a:latin typeface="Aptos"/>
              </a:rPr>
              <a:t>  </a:t>
            </a:r>
            <a:r>
              <a:rPr sz="1000" b="0" i="0" dirty="0">
                <a:solidFill>
                  <a:srgbClr val="A4B1BF"/>
                </a:solidFill>
                <a:latin typeface="Aptos"/>
              </a:rPr>
              <a:t>: </a:t>
            </a:r>
            <a:r>
              <a:rPr lang="en-US" sz="1000" dirty="0">
                <a:solidFill>
                  <a:srgbClr val="A4B1BF"/>
                </a:solidFill>
                <a:latin typeface="Aptos"/>
              </a:rPr>
              <a:t> </a:t>
            </a:r>
          </a:p>
          <a:p>
            <a:pPr algn="l"/>
            <a:r>
              <a:rPr lang="en-US" sz="1000" dirty="0">
                <a:solidFill>
                  <a:srgbClr val="A4B1BF"/>
                </a:solidFill>
                <a:latin typeface="Aptos"/>
              </a:rPr>
              <a:t>Tashin Ramisha (2121325642)</a:t>
            </a:r>
          </a:p>
          <a:p>
            <a:pPr algn="l"/>
            <a:r>
              <a:rPr lang="en-US" sz="1000" dirty="0">
                <a:solidFill>
                  <a:srgbClr val="A4B1BF"/>
                </a:solidFill>
                <a:latin typeface="Aptos"/>
              </a:rPr>
              <a:t>Md. Rakibul Hasan (2111127642)</a:t>
            </a:r>
          </a:p>
          <a:p>
            <a:pPr algn="l"/>
            <a:r>
              <a:rPr lang="en-US" sz="1000" b="0" i="0" dirty="0">
                <a:solidFill>
                  <a:srgbClr val="A4B1BF"/>
                </a:solidFill>
                <a:latin typeface="Aptos"/>
              </a:rPr>
              <a:t>Sanjida Akter Mim (1931924642)</a:t>
            </a:r>
            <a:endParaRPr sz="1000" b="0" i="0" dirty="0">
              <a:solidFill>
                <a:srgbClr val="A4B1B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108192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9BE0D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01 ·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Why FoodGPT is needed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The project focuses on local food context instead of generic nutrition assumptions.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743200" cy="3291840"/>
          </a:xfrm>
          <a:prstGeom prst="roundRect">
            <a:avLst/>
          </a:prstGeom>
          <a:solidFill>
            <a:srgbClr val="0E192B"/>
          </a:solidFill>
          <a:ln w="10160">
            <a:solidFill>
              <a:srgbClr val="0E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87168"/>
            <a:ext cx="2194560" cy="6400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ptos"/>
              </a:rPr>
              <a:t>1,255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672"/>
            <a:ext cx="2194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0" i="0">
                <a:solidFill>
                  <a:srgbClr val="B4C2CF"/>
                </a:solidFill>
                <a:latin typeface="Aptos"/>
              </a:rPr>
              <a:t>dishes in one dataset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2" y="3730752"/>
            <a:ext cx="2148840" cy="310896"/>
          </a:xfrm>
          <a:prstGeom prst="roundRect">
            <a:avLst/>
          </a:prstGeom>
          <a:solidFill>
            <a:srgbClr val="2137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3739896"/>
            <a:ext cx="214884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9FE6DD"/>
                </a:solidFill>
                <a:latin typeface="Aptos"/>
              </a:rPr>
              <a:t>MOSTLY BANGLADESHI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19456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0" i="0">
                <a:solidFill>
                  <a:srgbClr val="B4C2CF"/>
                </a:solidFill>
                <a:latin typeface="Aptos"/>
              </a:rPr>
              <a:t>plus international staples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2103120"/>
            <a:ext cx="7818120" cy="329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41648" y="2423160"/>
            <a:ext cx="182880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192B"/>
                </a:solidFill>
                <a:latin typeface="Aptos"/>
              </a:rPr>
              <a:t>The problem</a:t>
            </a:r>
          </a:p>
        </p:txBody>
      </p:sp>
      <p:sp>
        <p:nvSpPr>
          <p:cNvPr id="15" name="Oval 14"/>
          <p:cNvSpPr/>
          <p:nvPr/>
        </p:nvSpPr>
        <p:spPr>
          <a:xfrm>
            <a:off x="4041648" y="3035808"/>
            <a:ext cx="82296" cy="82296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42816" y="2926080"/>
            <a:ext cx="6702552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Aptos"/>
              </a:rPr>
              <a:t>Generic nutrition apps often assume Western packaged food.</a:t>
            </a:r>
          </a:p>
        </p:txBody>
      </p:sp>
      <p:sp>
        <p:nvSpPr>
          <p:cNvPr id="17" name="Oval 16"/>
          <p:cNvSpPr/>
          <p:nvPr/>
        </p:nvSpPr>
        <p:spPr>
          <a:xfrm>
            <a:off x="4041648" y="3611880"/>
            <a:ext cx="82296" cy="82296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42816" y="3502152"/>
            <a:ext cx="5355312" cy="2308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232D3A"/>
                </a:solidFill>
                <a:latin typeface="Aptos"/>
              </a:rPr>
              <a:t>Bangladeshi dishes may receive a rough guess</a:t>
            </a:r>
            <a:r>
              <a:rPr lang="en-US" sz="1500" b="0" i="0" dirty="0">
                <a:solidFill>
                  <a:srgbClr val="232D3A"/>
                </a:solidFill>
                <a:latin typeface="Aptos"/>
              </a:rPr>
              <a:t> </a:t>
            </a:r>
            <a:r>
              <a:rPr sz="1500" b="0" i="0" dirty="0">
                <a:solidFill>
                  <a:srgbClr val="232D3A"/>
                </a:solidFill>
                <a:latin typeface="Aptos"/>
              </a:rPr>
              <a:t>or no useful result.</a:t>
            </a:r>
          </a:p>
        </p:txBody>
      </p:sp>
      <p:sp>
        <p:nvSpPr>
          <p:cNvPr id="19" name="Oval 18"/>
          <p:cNvSpPr/>
          <p:nvPr/>
        </p:nvSpPr>
        <p:spPr>
          <a:xfrm>
            <a:off x="4041648" y="4187952"/>
            <a:ext cx="82296" cy="82296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42816" y="4078224"/>
            <a:ext cx="6973640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dirty="0">
                <a:solidFill>
                  <a:srgbClr val="232D3A"/>
                </a:solidFill>
                <a:latin typeface="Aptos"/>
              </a:rPr>
              <a:t>Important context can be missing: ingredients, allergens, condition fit, and grounded </a:t>
            </a:r>
            <a:endParaRPr lang="en-US" sz="1500" b="0" i="0" dirty="0">
              <a:solidFill>
                <a:srgbClr val="232D3A"/>
              </a:solidFill>
              <a:latin typeface="Aptos"/>
            </a:endParaRPr>
          </a:p>
          <a:p>
            <a:pPr algn="l"/>
            <a:r>
              <a:rPr sz="1500" b="0" i="0" dirty="0">
                <a:solidFill>
                  <a:srgbClr val="232D3A"/>
                </a:solidFill>
                <a:latin typeface="Aptos"/>
              </a:rPr>
              <a:t>recipes.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41648" y="4754880"/>
            <a:ext cx="1554480" cy="310896"/>
          </a:xfrm>
          <a:prstGeom prst="roundRect">
            <a:avLst/>
          </a:prstGeom>
          <a:solidFill>
            <a:srgbClr val="DF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041648" y="4764024"/>
            <a:ext cx="15544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9B91"/>
                </a:solidFill>
                <a:latin typeface="Aptos"/>
              </a:rPr>
              <a:t>LOCAL + GROUNDED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02 · THE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One dataset powers every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The system cleans the data once, then shares the same cleaned frame across the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33172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514600"/>
            <a:ext cx="411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852928"/>
            <a:ext cx="1920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92B"/>
                </a:solidFill>
                <a:latin typeface="Aptos"/>
              </a:rPr>
              <a:t>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291840"/>
            <a:ext cx="192024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bd_food_nutrition_dataset.csv
1,255 rows • raw &amp; inconsistent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54096" y="3127248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7" y="233172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30167" y="2514600"/>
            <a:ext cx="411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7" y="2852928"/>
            <a:ext cx="1920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92B"/>
                </a:solidFill>
                <a:latin typeface="Aptos"/>
              </a:rPr>
              <a:t>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7" y="3291840"/>
            <a:ext cx="1731243" cy="5309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64707E"/>
                </a:solidFill>
                <a:latin typeface="Aptos"/>
              </a:rPr>
              <a:t>data.py cleans data + flags </a:t>
            </a:r>
            <a:endParaRPr lang="en-US" sz="1150" b="0" i="0" dirty="0">
              <a:solidFill>
                <a:srgbClr val="64707E"/>
              </a:solidFill>
              <a:latin typeface="Aptos"/>
            </a:endParaRPr>
          </a:p>
          <a:p>
            <a:pPr algn="l"/>
            <a:r>
              <a:rPr lang="en-US" sz="1150" b="0" i="0" dirty="0">
                <a:solidFill>
                  <a:srgbClr val="64707E"/>
                </a:solidFill>
                <a:latin typeface="Aptos"/>
              </a:rPr>
              <a:t>A</a:t>
            </a:r>
            <a:r>
              <a:rPr sz="1150" b="0" i="0" dirty="0">
                <a:solidFill>
                  <a:srgbClr val="64707E"/>
                </a:solidFill>
                <a:latin typeface="Aptos"/>
              </a:rPr>
              <a:t>llergens</a:t>
            </a:r>
            <a:r>
              <a:rPr lang="en-US" sz="1150" b="0" i="0" dirty="0">
                <a:solidFill>
                  <a:srgbClr val="64707E"/>
                </a:solidFill>
                <a:latin typeface="Aptos"/>
              </a:rPr>
              <a:t> </a:t>
            </a:r>
            <a:r>
              <a:rPr sz="1150" b="0" i="0" dirty="0">
                <a:solidFill>
                  <a:srgbClr val="64707E"/>
                </a:solidFill>
                <a:latin typeface="Aptos"/>
              </a:rPr>
              <a:t>nutrition.py </a:t>
            </a:r>
            <a:endParaRPr lang="en-US" sz="1150" b="0" i="0" dirty="0">
              <a:solidFill>
                <a:srgbClr val="64707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64707E"/>
                </a:solidFill>
                <a:latin typeface="Aptos"/>
              </a:rPr>
              <a:t>scores &amp; scales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3016" y="3127248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7" y="233172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19087" y="2514600"/>
            <a:ext cx="411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7" y="2852928"/>
            <a:ext cx="1920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92B"/>
                </a:solidFill>
                <a:latin typeface="Aptos"/>
              </a:rPr>
              <a:t>8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7" y="3291840"/>
            <a:ext cx="192024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Every feature reads the same
cleaned 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1936" y="3127248"/>
            <a:ext cx="3200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2331720"/>
            <a:ext cx="2331720" cy="20574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08008" y="2514600"/>
            <a:ext cx="41148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2852928"/>
            <a:ext cx="1920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0E192B"/>
                </a:solidFill>
                <a:latin typeface="Aptos"/>
              </a:rPr>
              <a:t>CHAT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291840"/>
            <a:ext cx="192024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Rules first
Groq only when needed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709160"/>
            <a:ext cx="10844784" cy="777240"/>
          </a:xfrm>
          <a:prstGeom prst="roundRect">
            <a:avLst/>
          </a:prstGeom>
          <a:solidFill>
            <a:srgbClr val="DFF7F2"/>
          </a:solidFill>
          <a:ln w="10160">
            <a:solidFill>
              <a:srgbClr val="DF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1" dirty="0">
                <a:solidFill>
                  <a:srgbClr val="0E192B"/>
                </a:solidFill>
                <a:latin typeface="Aptos"/>
              </a:rPr>
              <a:t>RULE-BASED LOGIC </a:t>
            </a:r>
            <a:r>
              <a:rPr sz="1400" b="0" dirty="0">
                <a:solidFill>
                  <a:srgbClr val="64707E"/>
                </a:solidFill>
                <a:latin typeface="Aptos"/>
              </a:rPr>
              <a:t>answers first; the retrieval-grounded LLM is only a fallback.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03 · TECHNICAL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How the system is structured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A simple layered design keeps deterministic tools dataset-grounded.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057400"/>
            <a:ext cx="84582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828800" y="2057400"/>
            <a:ext cx="118872" cy="566928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48840" y="2157984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Streamlit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57984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User-facing interface and 8 project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587752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2807208"/>
            <a:ext cx="84582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828800" y="2807208"/>
            <a:ext cx="118872" cy="566928"/>
          </a:xfrm>
          <a:prstGeom prst="rect">
            <a:avLst/>
          </a:prstGeom>
          <a:solidFill>
            <a:srgbClr val="4B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148840" y="2907792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Shared core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907792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data.py • nutrition.py • chatbot.py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3337560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557015"/>
            <a:ext cx="84582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828800" y="3557015"/>
            <a:ext cx="118872" cy="566928"/>
          </a:xfrm>
          <a:prstGeom prst="rect">
            <a:avLst/>
          </a:prstGeom>
          <a:solidFill>
            <a:srgbClr val="EF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148840" y="3657599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Cleaned DataFrame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657599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Single shared source for deterministic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4087367"/>
            <a:ext cx="45720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64707E"/>
                </a:solidFill>
                <a:latin typeface="Aptos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306824"/>
            <a:ext cx="8458200" cy="5669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828800" y="4306824"/>
            <a:ext cx="118872" cy="566928"/>
          </a:xfrm>
          <a:prstGeom prst="rect">
            <a:avLst/>
          </a:prstGeom>
          <a:solidFill>
            <a:srgbClr val="D75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148840" y="4407408"/>
            <a:ext cx="26517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Optional Groq fallback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4407408"/>
            <a:ext cx="53035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Used only when rules do not 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5166360"/>
            <a:ext cx="8458200" cy="640080"/>
          </a:xfrm>
          <a:prstGeom prst="roundRect">
            <a:avLst/>
          </a:prstGeom>
          <a:solidFill>
            <a:srgbClr val="0E192B"/>
          </a:solidFill>
          <a:ln w="10160">
            <a:solidFill>
              <a:srgbClr val="0E1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148840" y="5358384"/>
            <a:ext cx="7818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tos"/>
              </a:rPr>
              <a:t>Deterministic tools stay dataset-grounded.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04 · THE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Eight tools, one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Each tool solves a different nutrition task while using the same cleaned food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73152" cy="141732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Nutrition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Full nutrient breakdown, rescaled to any portion.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057400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2057400"/>
            <a:ext cx="73152" cy="1417320"/>
          </a:xfrm>
          <a:prstGeom prst="rect">
            <a:avLst/>
          </a:prstGeom>
          <a:solidFill>
            <a:srgbClr val="4B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221992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Health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87752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Matches foods to a condition such as diabetes, hypertension, or weight loss.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3822191"/>
            <a:ext cx="73152" cy="1417320"/>
          </a:xfrm>
          <a:prstGeom prst="rect">
            <a:avLst/>
          </a:prstGeom>
          <a:solidFill>
            <a:srgbClr val="EF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986783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Recipe Generator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352543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Creates step-by-step cooking instructions, scaled to the batch.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22191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3822191"/>
            <a:ext cx="73152" cy="1417320"/>
          </a:xfrm>
          <a:prstGeom prst="rect">
            <a:avLst/>
          </a:prstGeom>
          <a:solidFill>
            <a:srgbClr val="D75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986783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Meal Planner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352543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Builds a full day of meals sized to a calorie target.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04 · THE TOOLBOX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The other four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The remaining pages extend the same grounded dataset into practical user tasks.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73152" cy="141732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221992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Menu 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587752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Paste a menu; each line is matched to the closest food.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2057400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9632" y="2057400"/>
            <a:ext cx="73152" cy="1417320"/>
          </a:xfrm>
          <a:prstGeom prst="rect">
            <a:avLst/>
          </a:prstGeom>
          <a:solidFill>
            <a:srgbClr val="4B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2221992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Diet &amp; Allergen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587752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Estimates allergens directly from ingredients and tags.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822191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3822191"/>
            <a:ext cx="73152" cy="1417320"/>
          </a:xfrm>
          <a:prstGeom prst="rect">
            <a:avLst/>
          </a:prstGeom>
          <a:solidFill>
            <a:srgbClr val="EF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986783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Compare Foods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352543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Compares two foods side by side, nutrient by nutrient.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2" y="3822191"/>
            <a:ext cx="532180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9632" y="3822191"/>
            <a:ext cx="73152" cy="1417320"/>
          </a:xfrm>
          <a:prstGeom prst="rect">
            <a:avLst/>
          </a:prstGeom>
          <a:solidFill>
            <a:srgbClr val="D75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28232" y="3986783"/>
            <a:ext cx="4956048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0E192B"/>
                </a:solidFill>
                <a:latin typeface="Aptos"/>
              </a:rPr>
              <a:t>Chat Assistant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4352543"/>
            <a:ext cx="4956048" cy="7772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Lets users ask in plain language, grounded in the dataset.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252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05 · CHAT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How the Chat Assistant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The technical highlight: the LLM is not the first source of truth.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2339" y="2147840"/>
            <a:ext cx="52578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2450592"/>
            <a:ext cx="1417320" cy="310896"/>
          </a:xfrm>
          <a:prstGeom prst="roundRect">
            <a:avLst/>
          </a:prstGeom>
          <a:solidFill>
            <a:srgbClr val="DF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459736"/>
            <a:ext cx="141732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149B91"/>
                </a:solidFill>
                <a:latin typeface="Aptos"/>
              </a:rPr>
              <a:t>STEP 1 · INSTANT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389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192B"/>
                </a:solidFill>
                <a:latin typeface="Aptos"/>
              </a:rPr>
              <a:t>Rule-based intent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01568"/>
            <a:ext cx="4712637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64707E"/>
                </a:solidFill>
                <a:latin typeface="Aptos"/>
              </a:rPr>
              <a:t>A regex identifies requests such as calories, condition fit, recipes, </a:t>
            </a:r>
            <a:endParaRPr lang="en-US" sz="1300" b="0" i="0" dirty="0">
              <a:solidFill>
                <a:srgbClr val="64707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64707E"/>
                </a:solidFill>
                <a:latin typeface="Aptos"/>
              </a:rPr>
              <a:t>meal plans, or trait lists.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343400"/>
            <a:ext cx="4434840" cy="5943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149B91"/>
                </a:solidFill>
                <a:latin typeface="Aptos"/>
              </a:rPr>
              <a:t>Answer comes directly from the </a:t>
            </a:r>
            <a:r>
              <a:rPr sz="1300" b="1" i="0" dirty="0" err="1">
                <a:solidFill>
                  <a:srgbClr val="149B91"/>
                </a:solidFill>
                <a:latin typeface="Aptos"/>
              </a:rPr>
              <a:t>DataFrame</a:t>
            </a:r>
            <a:r>
              <a:rPr sz="1300" b="1" i="0" dirty="0">
                <a:solidFill>
                  <a:srgbClr val="149B91"/>
                </a:solidFill>
                <a:latin typeface="Aptos"/>
              </a:rPr>
              <a:t> — no network call.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148840"/>
            <a:ext cx="5257800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65392" y="2450592"/>
            <a:ext cx="1554480" cy="310896"/>
          </a:xfrm>
          <a:prstGeom prst="roundRect">
            <a:avLst/>
          </a:prstGeom>
          <a:solidFill>
            <a:srgbClr val="FFF1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2459736"/>
            <a:ext cx="1554480" cy="27432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950" b="1" i="0">
                <a:solidFill>
                  <a:srgbClr val="EF974A"/>
                </a:solidFill>
                <a:latin typeface="Aptos"/>
              </a:rPr>
              <a:t>STEP 2 ·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2907792"/>
            <a:ext cx="438912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0E192B"/>
                </a:solidFill>
                <a:latin typeface="Aptos"/>
              </a:rPr>
              <a:t>Retrieval-grounded Groq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3401568"/>
            <a:ext cx="4660122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 i="0" dirty="0">
                <a:solidFill>
                  <a:srgbClr val="64707E"/>
                </a:solidFill>
                <a:latin typeface="Aptos"/>
              </a:rPr>
              <a:t>If no rule matches, relevant rows are retrieved by keyword overlap</a:t>
            </a:r>
            <a:endParaRPr lang="en-US" sz="1300" b="0" i="0" dirty="0">
              <a:solidFill>
                <a:srgbClr val="64707E"/>
              </a:solidFill>
              <a:latin typeface="Aptos"/>
            </a:endParaRPr>
          </a:p>
          <a:p>
            <a:pPr algn="l"/>
            <a:r>
              <a:rPr sz="1300" b="0" i="0" dirty="0">
                <a:solidFill>
                  <a:srgbClr val="64707E"/>
                </a:solidFill>
                <a:latin typeface="Aptos"/>
              </a:rPr>
              <a:t> and passed into the </a:t>
            </a:r>
            <a:r>
              <a:rPr sz="1300" b="0" i="0" dirty="0" err="1">
                <a:solidFill>
                  <a:srgbClr val="64707E"/>
                </a:solidFill>
                <a:latin typeface="Aptos"/>
              </a:rPr>
              <a:t>Groq</a:t>
            </a:r>
            <a:r>
              <a:rPr sz="1300" b="0" i="0" dirty="0">
                <a:solidFill>
                  <a:srgbClr val="64707E"/>
                </a:solidFill>
                <a:latin typeface="Aptos"/>
              </a:rPr>
              <a:t> prompt.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4343400"/>
            <a:ext cx="4490332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 dirty="0">
                <a:solidFill>
                  <a:srgbClr val="EF974A"/>
                </a:solidFill>
                <a:latin typeface="Aptos"/>
              </a:rPr>
              <a:t>The retrieved rows ground the response instead of inventing</a:t>
            </a:r>
            <a:endParaRPr lang="en-US" sz="1300" b="1" i="0" dirty="0">
              <a:solidFill>
                <a:srgbClr val="EF974A"/>
              </a:solidFill>
              <a:latin typeface="Aptos"/>
            </a:endParaRPr>
          </a:p>
          <a:p>
            <a:pPr algn="l"/>
            <a:r>
              <a:rPr sz="1300" b="1" i="0" dirty="0">
                <a:solidFill>
                  <a:srgbClr val="EF974A"/>
                </a:solidFill>
                <a:latin typeface="Aptos"/>
              </a:rPr>
              <a:t> a number.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0992" y="3401568"/>
            <a:ext cx="854006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06 · 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From a question to a grounded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The same design supports both direct tool use and natural-language chat.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42316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" y="2670048"/>
            <a:ext cx="457200" cy="45720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2734056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8" y="2724912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92B"/>
                </a:solidFill>
                <a:latin typeface="Aptos"/>
              </a:rPr>
              <a:t>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401568"/>
            <a:ext cx="187451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07E"/>
                </a:solidFill>
                <a:latin typeface="Aptos"/>
              </a:rPr>
              <a:t>Chooses a tool
or asks a 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54096" y="324612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7" y="242316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30167" y="2670048"/>
            <a:ext cx="457200" cy="45720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30167" y="2734056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4527" y="2724912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92B"/>
                </a:solidFill>
                <a:latin typeface="Aptos"/>
              </a:rPr>
              <a:t>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401568"/>
            <a:ext cx="187451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07E"/>
                </a:solidFill>
                <a:latin typeface="Aptos"/>
              </a:rPr>
              <a:t>Rule/intent is
identified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3015" y="324612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7" y="242316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19087" y="2670048"/>
            <a:ext cx="457200" cy="45720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7" y="2734056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7" y="2724912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92B"/>
                </a:solidFill>
                <a:latin typeface="Aptos"/>
              </a:rPr>
              <a:t>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401568"/>
            <a:ext cx="187451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07E"/>
                </a:solidFill>
                <a:latin typeface="Aptos"/>
              </a:rPr>
              <a:t>Relevant rows come
from the cleaned frame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1935" y="3246120"/>
            <a:ext cx="36576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49B91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5128" y="2423160"/>
            <a:ext cx="2331720" cy="19659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208008" y="2670048"/>
            <a:ext cx="457200" cy="457200"/>
          </a:xfrm>
          <a:prstGeom prst="ellipse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08008" y="2734056"/>
            <a:ext cx="4572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2724912"/>
            <a:ext cx="12801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E192B"/>
                </a:solidFill>
                <a:latin typeface="Aptos"/>
              </a:rPr>
              <a:t>ANSWER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53728" y="3401568"/>
            <a:ext cx="1874519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64707E"/>
                </a:solidFill>
                <a:latin typeface="Aptos"/>
              </a:rPr>
              <a:t>Result is shown
in the Streamlit UI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08760" y="4800600"/>
            <a:ext cx="9144000" cy="731520"/>
          </a:xfrm>
          <a:prstGeom prst="roundRect">
            <a:avLst/>
          </a:prstGeom>
          <a:solidFill>
            <a:srgbClr val="DFF7F2"/>
          </a:solidFill>
          <a:ln w="10160">
            <a:solidFill>
              <a:srgbClr val="DF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91640" y="5010912"/>
            <a:ext cx="8778240" cy="3200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0E192B"/>
                </a:solidFill>
                <a:latin typeface="Aptos"/>
              </a:rPr>
              <a:t>Core principle: one cleaned dataset → deterministic tools → grounded chat fallback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438912"/>
            <a:ext cx="320040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49B91"/>
                </a:solidFill>
                <a:latin typeface="Aptos"/>
              </a:rPr>
              <a:t>07 · PROJECT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0E192B"/>
                </a:solidFill>
                <a:latin typeface="Aptos"/>
              </a:rPr>
              <a:t>What makes the approach useful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10607040" cy="5029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64707E"/>
                </a:solidFill>
                <a:latin typeface="Aptos"/>
              </a:rPr>
              <a:t>These strengths follow directly from the architecture and project scope.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52303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48840"/>
            <a:ext cx="91440" cy="1417320"/>
          </a:xfrm>
          <a:prstGeom prst="rect">
            <a:avLst/>
          </a:prstGeom>
          <a:solidFill>
            <a:srgbClr val="149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LOCAL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07208"/>
            <a:ext cx="452628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Designed around Bangladeshi food while also covering international staples.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148840"/>
            <a:ext cx="52303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90488" y="2148840"/>
            <a:ext cx="91440" cy="1417320"/>
          </a:xfrm>
          <a:prstGeom prst="rect">
            <a:avLst/>
          </a:prstGeom>
          <a:solidFill>
            <a:srgbClr val="4B7B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4808" y="2377440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CONSISTENT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807208"/>
            <a:ext cx="452628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All tools read the same cleaned DataFrame instead of separate data 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931920"/>
            <a:ext cx="52303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58368" y="3931920"/>
            <a:ext cx="91440" cy="1417320"/>
          </a:xfrm>
          <a:prstGeom prst="rect">
            <a:avLst/>
          </a:prstGeom>
          <a:solidFill>
            <a:srgbClr val="EF9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4160520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GROUNDED ANSWERS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590288"/>
            <a:ext cx="452628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64707E"/>
                </a:solidFill>
                <a:latin typeface="Aptos"/>
              </a:rPr>
              <a:t>Rules answer first; the LLM receives retrieved rows when a fallback is needed.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931920"/>
            <a:ext cx="5230368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7E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3931920"/>
            <a:ext cx="91440" cy="1417320"/>
          </a:xfrm>
          <a:prstGeom prst="rect">
            <a:avLst/>
          </a:prstGeom>
          <a:solidFill>
            <a:srgbClr val="D758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64808" y="4160520"/>
            <a:ext cx="448056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>
                <a:solidFill>
                  <a:srgbClr val="0E192B"/>
                </a:solidFill>
                <a:latin typeface="Aptos"/>
              </a:rPr>
              <a:t>PRACTICAL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4808" y="4590288"/>
            <a:ext cx="4600618" cy="3539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 dirty="0">
                <a:solidFill>
                  <a:srgbClr val="64707E"/>
                </a:solidFill>
                <a:latin typeface="Aptos"/>
              </a:rPr>
              <a:t>Nutrition, recommendations, recipes, planning, menu analysis, filtering, </a:t>
            </a:r>
            <a:endParaRPr lang="en-US" sz="1150" b="0" i="0" dirty="0">
              <a:solidFill>
                <a:srgbClr val="64707E"/>
              </a:solidFill>
              <a:latin typeface="Aptos"/>
            </a:endParaRPr>
          </a:p>
          <a:p>
            <a:pPr algn="l"/>
            <a:r>
              <a:rPr sz="1150" b="0" i="0" dirty="0">
                <a:solidFill>
                  <a:srgbClr val="64707E"/>
                </a:solidFill>
                <a:latin typeface="Aptos"/>
              </a:rPr>
              <a:t>comparison, and chat are combined.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6473952"/>
            <a:ext cx="10881360" cy="10972"/>
          </a:xfrm>
          <a:prstGeom prst="rect">
            <a:avLst/>
          </a:prstGeom>
          <a:solidFill>
            <a:srgbClr val="E7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378723" y="3059668"/>
            <a:ext cx="2828902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4800" b="1" i="0" dirty="0">
                <a:solidFill>
                  <a:srgbClr val="0E192B"/>
                </a:solidFill>
                <a:latin typeface="Aptos"/>
              </a:rPr>
              <a:t>Thank You</a:t>
            </a:r>
            <a:endParaRPr sz="4800" b="1" i="0" dirty="0">
              <a:solidFill>
                <a:srgbClr val="0E192B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27080" y="393192"/>
            <a:ext cx="640080" cy="3657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>
                <a:solidFill>
                  <a:srgbClr val="149B91"/>
                </a:solidFill>
                <a:latin typeface="Apto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37960"/>
            <a:ext cx="146304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850" b="1" i="0">
                <a:solidFill>
                  <a:srgbClr val="149B91"/>
                </a:solidFill>
                <a:latin typeface="Aptos"/>
              </a:rPr>
              <a:t>FoodGPT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761</Words>
  <Application>Microsoft Office PowerPoint</Application>
  <PresentationFormat>Widescreen</PresentationFormat>
  <Paragraphs>154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FoodGPT – Combined Final Project Presentation</dc:title>
  <dc:subject>CSE440.2 Final Project</dc:subject>
  <dc:creator>FoodGPT Project Group</dc:creator>
  <cp:keywords/>
  <dc:description>generated using python-pptx</dc:description>
  <cp:lastModifiedBy>Md. Rakibul Hasan</cp:lastModifiedBy>
  <cp:revision>3</cp:revision>
  <dcterms:created xsi:type="dcterms:W3CDTF">2013-01-27T09:14:16Z</dcterms:created>
  <dcterms:modified xsi:type="dcterms:W3CDTF">2026-08-27T01:12:35Z</dcterms:modified>
  <cp:category/>
</cp:coreProperties>
</file>